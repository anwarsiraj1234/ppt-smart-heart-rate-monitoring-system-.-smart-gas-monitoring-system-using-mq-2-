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914400"/>
            <a:ext cx="4572000" cy="4572000"/>
          </a:xfrm>
          <a:prstGeom prst="ellipse">
            <a:avLst/>
          </a:prstGeom>
          <a:solidFill>
            <a:srgbClr val="12A39A">
              <a:alpha val="30000"/>
            </a:srgbClr>
          </a:solidFill>
          <a:ln w="12700">
            <a:solidFill>
              <a:srgbClr val="12A39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651760"/>
            <a:ext cx="3291840" cy="3291840"/>
          </a:xfrm>
          <a:prstGeom prst="ellipse">
            <a:avLst/>
          </a:prstGeom>
          <a:solidFill>
            <a:srgbClr val="F5C518">
              <a:alpha val="25000"/>
            </a:srgbClr>
          </a:solidFill>
          <a:ln w="12700">
            <a:solidFill>
              <a:srgbClr val="F5C51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109728" cy="2377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D95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MADE BY SIR ANWAR SIRAJ DS &amp; AI ROBOTICS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ARDUINO HEART RATE MONITOR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Sensor + I2C LCD  |  Real-time BPM  |  Chapter 5, Project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A39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EDUCATORS RENAISSANCE CAMPUS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OVERVIEW &amp; 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12A39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system that measures your pulse in real time. A PPG sensor detects blood-volume changes in the fingertip, an Arduino UNO processes the signal, and an I2C LCD shows the BPM instantly.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536192" cy="2468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1536192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Real-Time BPM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78608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Beats Per Minute calculation.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2103120"/>
            <a:ext cx="1536192" cy="2468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FF8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103120"/>
            <a:ext cx="1536192" cy="411480"/>
          </a:xfrm>
          <a:prstGeom prst="roundRect">
            <a:avLst>
              <a:gd name="adj" fmla="val 26667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12848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LED Feedback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2578608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LED blinks with every heartbeat.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103120"/>
            <a:ext cx="1536192" cy="2468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103120"/>
            <a:ext cx="1536192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58768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I2C Display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2578608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pins (SDA/SCL) saves wiring.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2103120"/>
            <a:ext cx="1536192" cy="2468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2103120"/>
            <a:ext cx="1536192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04688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Serial Plotting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2578608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 PC for graph analysis.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2103120"/>
            <a:ext cx="1536192" cy="24688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31750">
            <a:solidFill>
              <a:srgbClr val="7ED9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103120"/>
            <a:ext cx="1536192" cy="411480"/>
          </a:xfrm>
          <a:prstGeom prst="roundRect">
            <a:avLst>
              <a:gd name="adj" fmla="val 26667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High Accuracy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578608"/>
            <a:ext cx="12618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give precise pulse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LIBRARIES USED IN THIS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act as "translators" between the Arduino and the sensor / display. Install both in the Arduino 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393192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8288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 PulseSensor Playground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30428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raw analog signal from the heart sensor into a clean BPM value.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PulseSensorPlayground.h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calls: begin(), getBeatsPerMinute(), sawStartOfBeat()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828800"/>
            <a:ext cx="393192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18288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2. LiquidCrystal_I2C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0428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Arduino control the 16x2 LCD using just two data pins (SDA/SCL).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LiquidCrystal_I2C.h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Frank de Brabander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uses Wire.h (built in)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LIBRARIES -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188720"/>
            <a:ext cx="731520" cy="731520"/>
          </a:xfrm>
          <a:prstGeom prst="ellipse">
            <a:avLst/>
          </a:prstGeom>
          <a:solidFill>
            <a:srgbClr val="12A39A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1031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Open Arduino IDE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578608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Arduino IDE on your PC.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82112" y="1188720"/>
            <a:ext cx="731520" cy="7315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82112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542032" y="210312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21031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21031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Open Library Manager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679192" y="2578608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&gt; Include Library &gt; Manage Libraries...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66944" y="1188720"/>
            <a:ext cx="731520" cy="731520"/>
          </a:xfrm>
          <a:prstGeom prst="ellipse">
            <a:avLst/>
          </a:prstGeom>
          <a:solidFill>
            <a:srgbClr val="FF8A00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66944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626864" y="210312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31750">
            <a:solidFill>
              <a:srgbClr val="FF8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21031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21031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PulseSensor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764024" y="2578608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"PulseSensor Playground" and click Install.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51776" y="1188720"/>
            <a:ext cx="731520" cy="73152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1776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711696" y="210312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11696" y="2103120"/>
            <a:ext cx="1965960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21424" y="210312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Install LCD library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48856" y="2578608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search, type "LiquidCrystal I2C" (by Frank de Brabander), click Install.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if the LCD stays blank, change the I2C address from 0x27 to 0x3F.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HARDWARE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Arduino UNO  x1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64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project. Reads the sensor and runs the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Pulse Sensor  x1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664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pulse using light and a photo sensor.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7ED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I2C 16x2 LCD  x1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642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BPM value and system status.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FF8A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7180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29718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Jumper Wires  7-10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44728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modules together.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97180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55848" y="29718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USB Cable  x1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44728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Arduino and uploads the code.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0B2A3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Total: 5 component types - simple, cheap and beginner friendly!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COMPONENT 1: PULSE SENSOR (PPG)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1887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6420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Photoplethysmogram (PPG) sensor. It shines light into the fingertip, and as the heart pumps blood the tissue reflects different amounts of light. A photo sensor turns this into an analog voltage that rises and falls with every beat.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finger gently on the sensor - no pressing hard!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1750">
            <a:solidFill>
              <a:srgbClr val="FF8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1887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Wire Colours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VCC (5V)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GND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= Signal (Analog A0)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297180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44728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 changes with each heartbeat, so reflected light changes - the Arduino counts these peaks to get BPM.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COMPONENT 2: I2C 16x2 LCD DISPLAY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12A39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1887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6420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16-column x 2-row character LCD with an I2C backpack. Normally an LCD needs 6+ wires; the I2C module reduces this to only 4: VCC, GND, SDA and SCL.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 it shows the title "HEART RATE MON." on line 1 and "BPM: xx" on line 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1750">
            <a:solidFill>
              <a:srgbClr val="7ED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1887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Pin Connections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6642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&gt; GND     VCC &gt; 5V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&gt; Analog A4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 &gt; Analog A5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71800"/>
            <a:ext cx="4023360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297180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Good to know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44728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I2C address is 0x27 (some modules use 0x3F). Adjust the contrast screw on the back if text is faint.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CIRCUIT CONNECTIONS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pic>
        <p:nvPicPr>
          <p:cNvPr id="8" name="Image 0" descr="/mnt/user-data/uploads/1793129408896_ima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1097280"/>
            <a:ext cx="3017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097280"/>
            <a:ext cx="301752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79008" y="109728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Pulse Sensor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157276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&gt; 5V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&gt; GND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&gt; A0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3017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926080"/>
            <a:ext cx="301752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79008" y="2926080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I2C LCD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4015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&gt; GND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 &gt; 5V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&gt; A4   SCL &gt; A5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IT WORKS -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143000"/>
            <a:ext cx="640080" cy="640080"/>
          </a:xfrm>
          <a:prstGeom prst="ellipse">
            <a:avLst/>
          </a:prstGeom>
          <a:solidFill>
            <a:srgbClr val="12A39A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591056" cy="26060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1591056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Sensing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441448"/>
            <a:ext cx="1316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shone into the finger; blood flow changes the reflected light.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23744" y="1143000"/>
            <a:ext cx="640080" cy="64008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2374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048256" y="1965960"/>
            <a:ext cx="1591056" cy="26060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1965960"/>
            <a:ext cx="1591056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57984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Signal 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85416" y="2441448"/>
            <a:ext cx="1316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reads the analog voltage on pin A0.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1143000"/>
            <a:ext cx="640080" cy="640080"/>
          </a:xfrm>
          <a:prstGeom prst="ellipse">
            <a:avLst/>
          </a:prstGeom>
          <a:solidFill>
            <a:srgbClr val="FF8A00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30752" y="1965960"/>
            <a:ext cx="1591056" cy="26060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1750">
            <a:solidFill>
              <a:srgbClr val="FF8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0752" y="1965960"/>
            <a:ext cx="1591056" cy="411480"/>
          </a:xfrm>
          <a:prstGeom prst="roundRect">
            <a:avLst>
              <a:gd name="adj" fmla="val 26667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Thresholding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2441448"/>
            <a:ext cx="1316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crossing THRESHOLD (550) counts as a beat.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88736" y="1143000"/>
            <a:ext cx="640080" cy="640080"/>
          </a:xfrm>
          <a:prstGeom prst="ellipse">
            <a:avLst/>
          </a:prstGeom>
          <a:solidFill>
            <a:srgbClr val="8E44AD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88736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13248" y="1965960"/>
            <a:ext cx="1591056" cy="26060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1965960"/>
            <a:ext cx="1591056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22976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Calculation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550408" y="2441448"/>
            <a:ext cx="1316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beats gives Beats Per Minute.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71232" y="1143000"/>
            <a:ext cx="640080" cy="640080"/>
          </a:xfrm>
          <a:prstGeom prst="ellipse">
            <a:avLst/>
          </a:prstGeom>
          <a:solidFill>
            <a:srgbClr val="7ED957"/>
          </a:solidFill>
          <a:ln w="25400">
            <a:solidFill>
              <a:srgbClr val="0B2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7123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095744" y="1965960"/>
            <a:ext cx="1591056" cy="260604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1750">
            <a:solidFill>
              <a:srgbClr val="7ED9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95744" y="1965960"/>
            <a:ext cx="1591056" cy="411480"/>
          </a:xfrm>
          <a:prstGeom prst="roundRect">
            <a:avLst>
              <a:gd name="adj" fmla="val 26667"/>
            </a:avLst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05472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Output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232904" y="2441448"/>
            <a:ext cx="13167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shows on the LCD; LED on pin 13 blinks with the pulse.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CODE (KEY PARTS)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7ED957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120640" cy="3429000"/>
          </a:xfrm>
          <a:prstGeom prst="roundRect">
            <a:avLst>
              <a:gd name="adj" fmla="val 2667"/>
            </a:avLst>
          </a:prstGeom>
          <a:solidFill>
            <a:srgbClr val="0B2A3A"/>
          </a:solidFill>
          <a:ln w="25400">
            <a:solidFill>
              <a:srgbClr val="7ED9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3444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ED9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USE_ARDUINO_INTERRUPTS true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&lt;PulseSensorPlayground.h&gt;
#include &lt;Wire.h&gt;
#include &lt;LiquidCrystal_I2C.h&gt;
</a:t>
            </a:r>
            <a:pPr indent="0" marL="0">
              <a:buNone/>
            </a:pPr>
            <a:r>
              <a:rPr lang="en-US" sz="1100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LiquidCrystal_I2C lcd(0x27, 16, 2);
const int THRESHOLD = 550;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lcd.init(); lcd.backlight();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pulseSensor.analogInput(0);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pulseSensor.blinkOnPulse(13);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pulseSensor.setThreshold(THRESHOLD);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pulseSensor.begin();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430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143000"/>
            <a:ext cx="292608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0448" y="114300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setup()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161848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LCD, shows "Initializing", then configures the sensor pin, LED and threshold.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29260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926080"/>
            <a:ext cx="292608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70448" y="2926080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loop()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40156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BPM, prints it to Serial and the LCD every 20 ms. Tune THRESHOLD if too sensitive.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2A3A"/>
          </a:solidFill>
          <a:ln w="12700">
            <a:solidFill>
              <a:srgbClr val="0B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EDUCATIONAL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F5C518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2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2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ROBOTICS  |  Sir Anwar Siraj DS  |  The Educators Renaissance Campus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Biomedical Basics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6420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optical sensors measure biological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12A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2A39A"/>
          </a:solidFill>
          <a:ln w="12700">
            <a:solidFill>
              <a:srgbClr val="12A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I2C Communication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66420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microcontrollers talk to displays.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1750">
            <a:solidFill>
              <a:srgbClr val="8E44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1188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Signal Processing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6420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noise from analog sensors to get clean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0B2A3A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51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YOU!  Made by Sir Anwar Siraj DS &amp; AI Robotics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Heart Rate Monitor</dc:title>
  <dc:subject>PptxGenJS Presentation</dc:subject>
  <dc:creator>AI Robotics - Sir Anwar Siraj DS</dc:creator>
  <cp:lastModifiedBy>AI Robotics - Sir Anwar Siraj DS</cp:lastModifiedBy>
  <cp:revision>1</cp:revision>
  <dcterms:created xsi:type="dcterms:W3CDTF">2026-10-29T03:38:14Z</dcterms:created>
  <dcterms:modified xsi:type="dcterms:W3CDTF">2026-10-29T03:38:14Z</dcterms:modified>
</cp:coreProperties>
</file>